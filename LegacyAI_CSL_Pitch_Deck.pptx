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8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"/>
            <a:ext cx="2251741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LegacyAI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F58025"/>
                </a:solidFill>
                <a:latin typeface="Calibri"/>
              </a:rPr>
              <a:t>AI-Assisted Wealth Transition &amp; Emergency-Fund Diversification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B8C4D4"/>
                </a:solidFill>
                <a:latin typeface="Calibri"/>
              </a:rPr>
              <a:t>Bridging Generational Trust: AI for Asset &amp; Family Transitions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46320"/>
            <a:ext cx="7315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Central Michigan University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C5D0DC"/>
                </a:solidFill>
                <a:latin typeface="Calibri"/>
              </a:rPr>
              <a:t>Vrutant Vyas  ·  Rishita Arora  ·  Prosper Mapepa  ·  Riya Gurung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C5D0DC"/>
                </a:solidFill>
                <a:latin typeface="Calibri"/>
              </a:rPr>
              <a:t>Built for PNC Private Bank  ·  Scenario: Inheritance &amp; Intergenerational Wealth Transfer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C5D0DC"/>
                </a:solidFill>
                <a:latin typeface="Calibri"/>
              </a:rPr>
              <a:t>Live prototype → scan QR on final slide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8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A2540"/>
                </a:solidFill>
                <a:latin typeface="Calibri"/>
              </a:rPr>
              <a:t>Banks keep parents. They lose the kids.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B7C"/>
                </a:solidFill>
                <a:latin typeface="Calibri"/>
              </a:rPr>
              <a:t>The retention cliff at intergenerational transfer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3566160" cy="214884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58025"/>
                </a:solidFill>
                <a:latin typeface="Calibri"/>
              </a:rPr>
              <a:t>97%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A2540"/>
                </a:solidFill>
                <a:latin typeface="Calibri"/>
              </a:rPr>
              <a:t>Parent retention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B6B7C"/>
                </a:solidFill>
                <a:latin typeface="Calibri"/>
              </a:rPr>
              <a:t>Schwab — clients stay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371600"/>
            <a:ext cx="3566160" cy="214884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5544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58025"/>
                </a:solidFill>
                <a:latin typeface="Calibri"/>
              </a:rPr>
              <a:t>20–45%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377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A2540"/>
                </a:solidFill>
                <a:latin typeface="Calibri"/>
              </a:rPr>
              <a:t>Heir retention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8803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B6B7C"/>
                </a:solidFill>
                <a:latin typeface="Calibri"/>
              </a:rPr>
              <a:t>Cerulli / Natixis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371600"/>
            <a:ext cx="3566160" cy="214884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5544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58025"/>
                </a:solidFill>
                <a:latin typeface="Calibri"/>
              </a:rPr>
              <a:t>81%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377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A2540"/>
                </a:solidFill>
                <a:latin typeface="Calibri"/>
              </a:rPr>
              <a:t>Heirs plan to switch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8803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B6B7C"/>
                </a:solidFill>
                <a:latin typeface="Calibri"/>
              </a:rPr>
              <a:t>Capgemini — stated intent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840480"/>
            <a:ext cx="11155680" cy="210312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069080"/>
            <a:ext cx="1051560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8025"/>
                </a:solidFill>
                <a:latin typeface="Calibri"/>
              </a:rPr>
              <a:t>Our thesis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FFFFFF"/>
                </a:solidFill>
                <a:latin typeface="Calibri"/>
              </a:rPr>
              <a:t>Heirs don’t leave because families are unhappy — they leave because no trust exists with the bank before the money moves. LegacyAI earns that trust early: consent-first family continuity + advisor intelligence that turns idle cash into a calm, advisor-approved plan.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B7C"/>
                </a:solidFill>
                <a:latin typeface="Calibri"/>
              </a:rPr>
              <a:t>LegacyAI · Central Michigan University · 2026 CSL Case Competition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8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A2540"/>
                </a:solidFill>
                <a:latin typeface="Calibri"/>
              </a:rPr>
              <a:t>Market opportunity — and what is at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B7C"/>
                </a:solidFill>
                <a:latin typeface="Calibri"/>
              </a:rPr>
              <a:t>Inheritance scenario: capture net-new assets and retain relationships at transfer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5532120" cy="196596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A2540"/>
                </a:solidFill>
                <a:latin typeface="Calibri"/>
              </a:rPr>
              <a:t>$105T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21A24"/>
                </a:solidFill>
                <a:latin typeface="Calibri"/>
              </a:rPr>
              <a:t>Expected to pass to heirs by 2048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B6B7C"/>
                </a:solidFill>
                <a:latin typeface="Calibri"/>
              </a:rPr>
              <a:t>Cerulli Associates, 2024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325880"/>
            <a:ext cx="5532120" cy="196596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79" y="160020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A2540"/>
                </a:solidFill>
                <a:latin typeface="Calibri"/>
              </a:rPr>
              <a:t>~$4.8T/yr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79" y="22402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21A24"/>
                </a:solidFill>
                <a:latin typeface="Calibri"/>
              </a:rPr>
              <a:t>Average annual transfer, 2026–2048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79" y="2697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B6B7C"/>
                </a:solidFill>
                <a:latin typeface="Calibri"/>
              </a:rPr>
              <a:t>Team calc. from Cerulli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474720"/>
            <a:ext cx="5532120" cy="196596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74904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A2540"/>
                </a:solidFill>
                <a:latin typeface="Calibri"/>
              </a:rPr>
              <a:t>$2.6–$3.8T/yr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891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21A24"/>
                </a:solidFill>
                <a:latin typeface="Calibri"/>
              </a:rPr>
              <a:t>Addressable transfer flow we bridge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46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B6B7C"/>
                </a:solidFill>
                <a:latin typeface="Calibri"/>
              </a:rPr>
              <a:t>Market opportunity band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474720"/>
            <a:ext cx="5532120" cy="196596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79" y="374904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A2540"/>
                </a:solidFill>
                <a:latin typeface="Calibri"/>
              </a:rPr>
              <a:t>$26–$38B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9" y="43891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21A24"/>
                </a:solidFill>
                <a:latin typeface="Calibri"/>
              </a:rPr>
              <a:t>1% of that flow — annual upside 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79" y="4846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B6B7C"/>
                </a:solidFill>
                <a:latin typeface="Calibri"/>
              </a:rPr>
              <a:t>Illustrative capture band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B7C"/>
                </a:solidFill>
                <a:latin typeface="Calibri"/>
              </a:rPr>
              <a:t>LegacyAI · Central Michigan University · 2026 CSL Case Competition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8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A2540"/>
                </a:solidFill>
                <a:latin typeface="Calibri"/>
              </a:rPr>
              <a:t>Customer discovery → product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B7C"/>
                </a:solidFill>
                <a:latin typeface="Calibri"/>
              </a:rPr>
              <a:t>Friction themes from published research + dual-persona journey testing on the prototype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11247120" cy="41148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Friction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28016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What we heard / 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128016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How LegacyAI responds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37360"/>
            <a:ext cx="11247120" cy="96012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87452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21A24"/>
                </a:solidFill>
                <a:latin typeface="Calibri"/>
              </a:rPr>
              <a:t>No bank relationship before transfer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87452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21A24"/>
                </a:solidFill>
                <a:latin typeface="Calibri"/>
              </a:rPr>
              <a:t>Heirs meet the institution after the money moves.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187452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21A24"/>
                </a:solidFill>
                <a:latin typeface="Calibri"/>
              </a:rPr>
              <a:t>Family Hub: invite next-gen years earlier; heirs see a plan while Principal is present.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788920"/>
            <a:ext cx="1124712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92608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21A24"/>
                </a:solidFill>
                <a:latin typeface="Calibri"/>
              </a:rPr>
              <a:t>Cold outreach breaks trust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92608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21A24"/>
                </a:solidFill>
                <a:latin typeface="Calibri"/>
              </a:rPr>
              <a:t>Advisors need warm introductions, not surprise calls.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292608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21A24"/>
                </a:solidFill>
                <a:latin typeface="Calibri"/>
              </a:rPr>
              <a:t>Consent gate: Outreach stays locked until Principal taps Allow call.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40479"/>
            <a:ext cx="11247120" cy="96012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77639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21A24"/>
                </a:solidFill>
                <a:latin typeface="Calibri"/>
              </a:rPr>
              <a:t>Idle cash vs. emergency fear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3977639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21A24"/>
                </a:solidFill>
                <a:latin typeface="Calibri"/>
              </a:rPr>
              <a:t>Families keep excess cash liquid because crises feel sudden.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3977639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21A24"/>
                </a:solidFill>
                <a:latin typeface="Calibri"/>
              </a:rPr>
              <a:t>AI sizes a 3-month reserve, then suggests risk-aware growth — advisor + customer approve.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892040"/>
            <a:ext cx="1124712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02920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21A24"/>
                </a:solidFill>
                <a:latin typeface="Calibri"/>
              </a:rPr>
              <a:t>Privacy is the deal-breaker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502920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21A24"/>
                </a:solidFill>
                <a:latin typeface="Calibri"/>
              </a:rPr>
              <a:t>Families will not share if answers feel exposed.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502920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21A24"/>
                </a:solidFill>
                <a:latin typeface="Calibri"/>
              </a:rPr>
              <a:t>Role-based desks; lesson answers private; no inferred external-bank activity.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0350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B7C"/>
                </a:solidFill>
                <a:latin typeface="Calibri"/>
              </a:rPr>
              <a:t>Sources: Cerulli, Capgemini, Natixis, Schwab, BlackRock (account sharing). Primary journey validation via working prototype.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8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A2540"/>
                </a:solidFill>
                <a:latin typeface="Calibri"/>
              </a:rPr>
              <a:t>One family. Four roles. One path.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B7C"/>
                </a:solidFill>
                <a:latin typeface="Calibri"/>
              </a:rPr>
              <a:t>Dual-sided journey: Advisor Intelligence Workbench ↔ Client / Family Experience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54480"/>
            <a:ext cx="1828800" cy="310896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783080"/>
            <a:ext cx="640080" cy="64008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F58025"/>
                </a:solidFill>
                <a:latin typeface="Calibri"/>
              </a:rPr>
              <a:t>ADVISOR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175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0A2540"/>
                </a:solidFill>
                <a:latin typeface="Calibri"/>
              </a:rPr>
              <a:t>AI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947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B6B7C"/>
                </a:solidFill>
                <a:latin typeface="Calibri"/>
              </a:rPr>
              <a:t>Rank the book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31720" y="1554480"/>
            <a:ext cx="1828800" cy="310896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26080" y="1783080"/>
            <a:ext cx="640080" cy="64008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1874519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26060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F58025"/>
                </a:solidFill>
                <a:latin typeface="Calibri"/>
              </a:rPr>
              <a:t>ADVISOR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30175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0A2540"/>
                </a:solidFill>
                <a:latin typeface="Calibri"/>
              </a:rPr>
              <a:t>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37947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B6B7C"/>
                </a:solidFill>
                <a:latin typeface="Calibri"/>
              </a:rPr>
              <a:t>Prepare the brief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554480"/>
            <a:ext cx="1828800" cy="310896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892040" y="1783080"/>
            <a:ext cx="640080" cy="64008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92040" y="1874519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6060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F58025"/>
                </a:solidFill>
                <a:latin typeface="Calibri"/>
              </a:rPr>
              <a:t>PRINCIPAL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0175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0A2540"/>
                </a:solidFill>
                <a:latin typeface="Calibri"/>
              </a:rPr>
              <a:t>Hub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7947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B6B7C"/>
                </a:solidFill>
                <a:latin typeface="Calibri"/>
              </a:rPr>
              <a:t>Invite + Allow call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1554480"/>
            <a:ext cx="1828800" cy="310896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858000" y="1783080"/>
            <a:ext cx="640080" cy="64008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1874519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26060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F58025"/>
                </a:solidFill>
                <a:latin typeface="Calibri"/>
              </a:rPr>
              <a:t>ADVISOR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0175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0A2540"/>
                </a:solidFill>
                <a:latin typeface="Calibri"/>
              </a:rPr>
              <a:t>Outreach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7947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B6B7C"/>
                </a:solidFill>
                <a:latin typeface="Calibri"/>
              </a:rPr>
              <a:t>Warm intro only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1554480"/>
            <a:ext cx="1828800" cy="310896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823960" y="1783080"/>
            <a:ext cx="640080" cy="64008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23960" y="1874519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26060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F58025"/>
                </a:solidFill>
                <a:latin typeface="Calibri"/>
              </a:rPr>
              <a:t>HEIR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30175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0A2540"/>
                </a:solidFill>
                <a:latin typeface="Calibri"/>
              </a:rPr>
              <a:t>Intake &amp; Plan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37947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B6B7C"/>
                </a:solidFill>
                <a:latin typeface="Calibri"/>
              </a:rPr>
              <a:t>Guided + private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95560" y="1554480"/>
            <a:ext cx="1828800" cy="310896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789920" y="1783080"/>
            <a:ext cx="640080" cy="64008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789920" y="1874519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87000" y="26060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F58025"/>
                </a:solidFill>
                <a:latin typeface="Calibri"/>
              </a:rPr>
              <a:t>ADVISOR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87000" y="30175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0A2540"/>
                </a:solidFill>
                <a:latin typeface="Calibri"/>
              </a:rPr>
              <a:t>Report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87000" y="37947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B6B7C"/>
                </a:solidFill>
                <a:latin typeface="Calibri"/>
              </a:rPr>
              <a:t>Full decision trail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5029200"/>
            <a:ext cx="11155680" cy="109728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525780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Nothing moves without Principal consent and advisor judgment. AI calculates. Humans decide.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B7C"/>
                </a:solidFill>
                <a:latin typeface="Calibri"/>
              </a:rPr>
              <a:t>LegacyAI · Central Michigan University · 2026 CSL Case Competition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8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A2540"/>
                </a:solidFill>
                <a:latin typeface="Calibri"/>
              </a:rPr>
              <a:t>Advisor Intelligence Workbench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B7C"/>
                </a:solidFill>
                <a:latin typeface="Calibri"/>
              </a:rPr>
              <a:t>AI Client Analysis ranks who needs a conversation — with explainable priority, not a black box</a:t>
            </a:r>
          </a:p>
        </p:txBody>
      </p:sp>
      <p:pic>
        <p:nvPicPr>
          <p:cNvPr id="6" name="Picture 5" descr="02-advisor-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7863840" cy="49149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58200" y="1325880"/>
            <a:ext cx="3246120" cy="475488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41080" y="1554480"/>
            <a:ext cx="288036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0A2540"/>
                </a:solidFill>
                <a:latin typeface="Calibri"/>
              </a:rPr>
              <a:t>Where AI works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21A24"/>
                </a:solidFill>
                <a:latin typeface="Calibri"/>
              </a:rPr>
              <a:t>Ranks clients by idle cash, spending trend, and earnings context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21A24"/>
                </a:solidFill>
                <a:latin typeface="Calibri"/>
              </a:rPr>
              <a:t>Surfaces an AI Priority score + “why this customer”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21A24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A2540"/>
                </a:solidFill>
                <a:latin typeface="Calibri"/>
              </a:rPr>
              <a:t>Where humans decide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21A24"/>
                </a:solidFill>
                <a:latin typeface="Calibri"/>
              </a:rPr>
              <a:t>Advisor opens the family desk and owns the brief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21A24"/>
                </a:solidFill>
                <a:latin typeface="Calibri"/>
              </a:rPr>
              <a:t>Outreach stays locked until Principal allows the call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21A24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58025"/>
                </a:solidFill>
                <a:latin typeface="Calibri"/>
              </a:rPr>
              <a:t>Specific, not vague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21A24"/>
                </a:solidFill>
                <a:latin typeface="Calibri"/>
              </a:rPr>
              <a:t>Rules + figures on the bank record — never inferred external activity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B7C"/>
                </a:solidFill>
                <a:latin typeface="Calibri"/>
              </a:rPr>
              <a:t>LegacyAI · Central Michigan University · 2026 CSL Case Competition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8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A2540"/>
                </a:solidFill>
                <a:latin typeface="Calibri"/>
              </a:rPr>
              <a:t>Client &amp; Family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B7C"/>
                </a:solidFill>
                <a:latin typeface="Calibri"/>
              </a:rPr>
              <a:t>Principal controls the invitation. Heirs get clarity without pressure.</a:t>
            </a:r>
          </a:p>
        </p:txBody>
      </p:sp>
      <p:pic>
        <p:nvPicPr>
          <p:cNvPr id="6" name="Picture 5" descr="04-principal-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5669280" cy="3543300"/>
          </a:xfrm>
          <a:prstGeom prst="rect">
            <a:avLst/>
          </a:prstGeom>
        </p:spPr>
      </p:pic>
      <p:pic>
        <p:nvPicPr>
          <p:cNvPr id="7" name="Picture 6" descr="05-advisor-outrea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234440"/>
            <a:ext cx="5669280" cy="3543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5349240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0A2540"/>
                </a:solidFill>
                <a:latin typeface="Calibri"/>
              </a:rPr>
              <a:t>Family Hub — Invite Heir, then Allow call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5349240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0A2540"/>
                </a:solidFill>
                <a:latin typeface="Calibri"/>
              </a:rPr>
              <a:t>Outreach locked until consent — trust by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B7C"/>
                </a:solidFill>
                <a:latin typeface="Calibri"/>
              </a:rPr>
              <a:t>LegacyAI · Central Michigan University · 2026 CSL Case Competition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8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A2540"/>
                </a:solidFill>
                <a:latin typeface="Calibri"/>
              </a:rPr>
              <a:t>Secret sauce — consent-gated continuity 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B7C"/>
                </a:solidFill>
                <a:latin typeface="Calibri"/>
              </a:rPr>
              <a:t>Generative AI is common. A hard consent workflow on the bank record is not.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623560" cy="205740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58025"/>
                </a:solidFill>
                <a:latin typeface="Calibri"/>
              </a:rPr>
              <a:t>Consent as infrastructure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5074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21A24"/>
                </a:solidFill>
                <a:latin typeface="Calibri"/>
              </a:rPr>
              <a:t>Outreach cannot start without Principal Allow call. That single gate is our unfair workflow advantage.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80160"/>
            <a:ext cx="5623560" cy="205740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508760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A2540"/>
                </a:solidFill>
                <a:latin typeface="Calibri"/>
              </a:rPr>
              <a:t>Multi-role truth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057400"/>
            <a:ext cx="5074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21A24"/>
                </a:solidFill>
                <a:latin typeface="Calibri"/>
              </a:rPr>
              <a:t>Advisor, Principal, Heir, Sibling see different desks from the same household record — role ACL, not one shared inbox.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566160"/>
            <a:ext cx="5623560" cy="205740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794760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A2540"/>
                </a:solidFill>
                <a:latin typeface="Calibri"/>
              </a:rPr>
              <a:t>AI calculates / humans approve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43400"/>
            <a:ext cx="5074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21A24"/>
                </a:solidFill>
                <a:latin typeface="Calibri"/>
              </a:rPr>
              <a:t>90-day emergency reserve, risk-aware split, care-cost set-aside. Advisor sets the final plan; customer confirms. Nothing moves alone.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566160"/>
            <a:ext cx="5623560" cy="205740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794760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A2540"/>
                </a:solidFill>
                <a:latin typeface="Calibri"/>
              </a:rPr>
              <a:t>Hard to copy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343400"/>
            <a:ext cx="5074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21A24"/>
                </a:solidFill>
                <a:latin typeface="Calibri"/>
              </a:rPr>
              <a:t>Competitors can add chatbots. Copying a bank-integrated, consent-first, dual-sided operating path requires product + compliance + culture change.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B7C"/>
                </a:solidFill>
                <a:latin typeface="Calibri"/>
              </a:rPr>
              <a:t>LegacyAI · Central Michigan University · 2026 CSL Case Competition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8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A2540"/>
                </a:solidFill>
                <a:latin typeface="Calibri"/>
              </a:rPr>
              <a:t>Business thesis &amp; adoption hypotheses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B7C"/>
                </a:solidFill>
                <a:latin typeface="Calibri"/>
              </a:rPr>
              <a:t>How LegacyAI creates ROI — and what we must prove next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623560" cy="475488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52120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A2540"/>
                </a:solidFill>
                <a:latin typeface="Calibri"/>
              </a:rPr>
              <a:t>Value creation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121A24"/>
                </a:solidFill>
                <a:latin typeface="Calibri"/>
              </a:rPr>
              <a:t>•  Retain inherited PNC deposits that would otherwise leave at transfer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121A24"/>
                </a:solidFill>
                <a:latin typeface="Calibri"/>
              </a:rPr>
              <a:t>•  Capture net-new assets via heir onboarding + idle-cash plans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121A24"/>
                </a:solidFill>
                <a:latin typeface="Calibri"/>
              </a:rPr>
              <a:t>•  Increase advisor capacity with ranked book + ready briefs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121A24"/>
                </a:solidFill>
                <a:latin typeface="Calibri"/>
              </a:rPr>
              <a:t>•  Grow deposit margin and advisory fees on plan assets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80160"/>
            <a:ext cx="5486400" cy="475488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50292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8025"/>
                </a:solidFill>
                <a:latin typeface="Calibri"/>
              </a:rPr>
              <a:t>Hypotheses to validate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>H1: Consent-first outreach lifts heir meeting conversion vs. cold call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>H2: Advisors adopt ranking if briefs save ≥15 min / household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>H3: 3-month reserve + growth split increases plan acceptance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>H4: Pilot vs. control shows 6–12 mo retention lift on inherited assets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B7C"/>
                </a:solidFill>
                <a:latin typeface="Calibri"/>
              </a:rPr>
              <a:t>LegacyAI · Central Michigan University · 2026 CSL Case Competition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8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A2540"/>
                </a:solidFill>
                <a:latin typeface="Calibri"/>
              </a:rPr>
              <a:t>Finalist roadmap — and try the live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B7C"/>
                </a:solidFill>
                <a:latin typeface="Calibri"/>
              </a:rPr>
              <a:t>Iterate with deeper discovery, GTM, and measured pilot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25880"/>
            <a:ext cx="2011680" cy="246888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46304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58025"/>
                </a:solidFill>
                <a:latin typeface="Calibri"/>
              </a:rPr>
              <a:t>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" y="2011680"/>
            <a:ext cx="1783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Working dual-sided prototype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Consent-gated demo path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1325880"/>
            <a:ext cx="2011680" cy="246888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70048" y="146304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0A2540"/>
                </a:solidFill>
                <a:latin typeface="Calibri"/>
              </a:rPr>
              <a:t>If Finalists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0048" y="2011680"/>
            <a:ext cx="1783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121A24"/>
                </a:solidFill>
                <a:latin typeface="Calibri"/>
              </a:rPr>
              <a:t>More advisor &amp; family interviews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121A24"/>
                </a:solidFill>
                <a:latin typeface="Calibri"/>
              </a:rPr>
              <a:t>Harden AI explainability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1325880"/>
            <a:ext cx="2011680" cy="246888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18888" y="146304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0A2540"/>
                </a:solidFill>
                <a:latin typeface="Calibri"/>
              </a:rPr>
              <a:t>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8888" y="2011680"/>
            <a:ext cx="1783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121A24"/>
                </a:solidFill>
                <a:latin typeface="Calibri"/>
              </a:rPr>
              <a:t>Pittsburgh book + control group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121A24"/>
                </a:solidFill>
                <a:latin typeface="Calibri"/>
              </a:rPr>
              <a:t>KPIs: engagement, retention, NNA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1325880"/>
            <a:ext cx="2011680" cy="246888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67728" y="146304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0A2540"/>
                </a:solidFill>
                <a:latin typeface="Calibri"/>
              </a:rPr>
              <a:t>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7728" y="2011680"/>
            <a:ext cx="1783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121A24"/>
                </a:solidFill>
                <a:latin typeface="Calibri"/>
              </a:rPr>
              <a:t>$100K+ idle cash → broader book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121A24"/>
                </a:solidFill>
                <a:latin typeface="Calibri"/>
              </a:rPr>
              <a:t>Advisor rollout playbook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1325880"/>
            <a:ext cx="2880360" cy="420624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qr-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0" y="1600200"/>
            <a:ext cx="2057400" cy="2057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052560" y="3794760"/>
            <a:ext cx="25603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58025"/>
                </a:solidFill>
                <a:latin typeface="Calibri"/>
              </a:rPr>
              <a:t>Scan to open live demo</a:t>
            </a:r>
          </a:p>
          <a:p>
            <a:pPr algn="ctr">
              <a:spcBef>
                <a:spcPts val="80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>legacy-ai-phi.vercel.app</a:t>
            </a:r>
          </a:p>
          <a:p>
            <a:pPr algn="ctr">
              <a:spcBef>
                <a:spcPts val="600"/>
              </a:spcBef>
            </a:pPr>
            <a:r>
              <a:rPr sz="1100" b="0">
                <a:solidFill>
                  <a:srgbClr val="B8C4D4"/>
                </a:solidFill>
                <a:latin typeface="Calibri"/>
              </a:rPr>
              <a:t>Start full demo → Advisor seat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114800"/>
            <a:ext cx="81381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A2540"/>
                </a:solidFill>
                <a:latin typeface="Calibri"/>
              </a:rPr>
              <a:t>Find the money. Protect the family. Keep the relationship.</a:t>
            </a:r>
          </a:p>
          <a:p>
            <a:pPr>
              <a:spcBef>
                <a:spcPts val="1200"/>
              </a:spcBef>
            </a:pPr>
            <a:r>
              <a:rPr sz="1200" b="0">
                <a:solidFill>
                  <a:srgbClr val="5B6B7C"/>
                </a:solidFill>
                <a:latin typeface="Calibri"/>
              </a:rPr>
              <a:t>Landing also: legacayai.vercel.app  ·  Demo password: LegacyAI1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B7C"/>
                </a:solidFill>
                <a:latin typeface="Calibri"/>
              </a:rPr>
              <a:t>LegacyAI · Central Michigan University · 2026 CSL Case Competition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